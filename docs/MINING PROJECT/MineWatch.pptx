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4630400" cy="8229600"/>
  <p:notesSz cx="8229600" cy="14630400"/>
  <p:embeddedFontLst>
    <p:embeddedFont>
      <p:font typeface="Geist" panose="020B0604020202020204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44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53801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1620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1620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1620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1620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1620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1620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1620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1620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01620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5.svg"/><Relationship Id="rId5" Type="http://schemas.openxmlformats.org/officeDocument/2006/relationships/image" Target="../media/image14.svg"/><Relationship Id="rId4" Type="http://schemas.openxmlformats.org/officeDocument/2006/relationships/image" Target="../media/image13.svg"/><Relationship Id="rId9" Type="http://schemas.openxmlformats.org/officeDocument/2006/relationships/image" Target="../media/image18.sv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0"/>
            <a:ext cx="5760720" cy="8229600"/>
          </a:xfrm>
          <a:prstGeom prst="rect">
            <a:avLst/>
          </a:prstGeom>
          <a:solidFill>
            <a:srgbClr val="101620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09265" y="959048"/>
            <a:ext cx="4207669" cy="63115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1634133"/>
            <a:ext cx="5670590" cy="737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00"/>
              </a:lnSpc>
              <a:buNone/>
            </a:pPr>
            <a:r>
              <a:rPr lang="en-US" sz="445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MineWatch</a:t>
            </a:r>
            <a:endParaRPr lang="en-US" sz="4450" dirty="0"/>
          </a:p>
        </p:txBody>
      </p:sp>
      <p:sp>
        <p:nvSpPr>
          <p:cNvPr id="5" name="Text 2"/>
          <p:cNvSpPr/>
          <p:nvPr/>
        </p:nvSpPr>
        <p:spPr>
          <a:xfrm>
            <a:off x="793790" y="2461974"/>
            <a:ext cx="7556421" cy="23588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355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Automated Detection and Temporal Tracking of Illegal Mining Using Sentinel-2 Satellite Imagery and Deep Learning</a:t>
            </a:r>
            <a:endParaRPr lang="en-US" sz="3550" dirty="0"/>
          </a:p>
        </p:txBody>
      </p:sp>
      <p:sp>
        <p:nvSpPr>
          <p:cNvPr id="6" name="Text 3"/>
          <p:cNvSpPr/>
          <p:nvPr/>
        </p:nvSpPr>
        <p:spPr>
          <a:xfrm>
            <a:off x="793790" y="5161002"/>
            <a:ext cx="7556421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Team No. 04 | Bennett University | April 2026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93790" y="5710952"/>
            <a:ext cx="7556421" cy="1282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300"/>
              </a:lnSpc>
              <a:buNone/>
            </a:pPr>
            <a:r>
              <a:rPr lang="en-US" sz="1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Rishi Ranjan (S24CSEU0327) </a:t>
            </a:r>
          </a:p>
          <a:p>
            <a:pPr marL="0" indent="0">
              <a:lnSpc>
                <a:spcPts val="2300"/>
              </a:lnSpc>
              <a:buNone/>
            </a:pPr>
            <a:r>
              <a:rPr lang="en-US" sz="1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Rohit Bansal (S24CSEU0292)</a:t>
            </a:r>
          </a:p>
          <a:p>
            <a:pPr marL="0" indent="0">
              <a:lnSpc>
                <a:spcPts val="2300"/>
              </a:lnSpc>
              <a:buNone/>
            </a:pPr>
            <a:r>
              <a:rPr lang="en-US" sz="1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Pragya Khokhar (S24CSEU2550)</a:t>
            </a:r>
          </a:p>
          <a:p>
            <a:pPr marL="0" indent="0">
              <a:lnSpc>
                <a:spcPts val="2300"/>
              </a:lnSpc>
              <a:buNone/>
            </a:pPr>
            <a:r>
              <a:rPr lang="en-US" sz="1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Riya Maurya (S24CSEU0347)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18367"/>
            <a:ext cx="5670590" cy="737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00"/>
              </a:lnSpc>
              <a:buNone/>
            </a:pPr>
            <a:r>
              <a:rPr lang="en-US" sz="445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The Problem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550795"/>
            <a:ext cx="4205168" cy="42051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559981" y="3343751"/>
            <a:ext cx="8284131" cy="7369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20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Illegal mining operations cause severe environmental damage across India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5559981" y="4307562"/>
            <a:ext cx="8284131" cy="884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Traditional ground-based monitoring remains slow, costly, and manual, making it impractical for widespread surveillance. Remote and inaccessible locations further complicate survey efforts, creating enforcement gaps.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5559981" y="5396032"/>
            <a:ext cx="8284131" cy="589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Until now, no automated solution leveraged freely available satellite imagery to systematically track mining activity over time.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28023"/>
            <a:ext cx="7380327" cy="737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00"/>
              </a:lnSpc>
              <a:buNone/>
            </a:pPr>
            <a:r>
              <a:rPr lang="en-US" sz="445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MineWatch — Our Solution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518767"/>
            <a:ext cx="4196358" cy="2183130"/>
          </a:xfrm>
          <a:prstGeom prst="roundRect">
            <a:avLst>
              <a:gd name="adj" fmla="val 4364"/>
            </a:avLst>
          </a:prstGeom>
          <a:solidFill>
            <a:srgbClr val="101620"/>
          </a:solidFill>
          <a:ln w="22860">
            <a:solidFill>
              <a:srgbClr val="002A8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43464" y="2768441"/>
            <a:ext cx="3590330" cy="368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2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EfficientNet-B0 Classifier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43464" y="3273028"/>
            <a:ext cx="3697010" cy="884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State-of-the-art deep learning architecture optimized for satellite image classification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5216962" y="2518767"/>
            <a:ext cx="4196358" cy="2183130"/>
          </a:xfrm>
          <a:prstGeom prst="roundRect">
            <a:avLst>
              <a:gd name="adj" fmla="val 4364"/>
            </a:avLst>
          </a:prstGeom>
          <a:solidFill>
            <a:srgbClr val="101620"/>
          </a:solidFill>
          <a:ln w="22860">
            <a:solidFill>
              <a:srgbClr val="002A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66636" y="2768441"/>
            <a:ext cx="3530203" cy="368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2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Sliding Window Inference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66636" y="3273028"/>
            <a:ext cx="3697010" cy="1179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Process full satellite tiles systematically with overlapping patches for comprehensive coverage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9640133" y="2518767"/>
            <a:ext cx="4196358" cy="2183130"/>
          </a:xfrm>
          <a:prstGeom prst="roundRect">
            <a:avLst>
              <a:gd name="adj" fmla="val 4364"/>
            </a:avLst>
          </a:prstGeom>
          <a:solidFill>
            <a:srgbClr val="101620"/>
          </a:solidFill>
          <a:ln w="22860">
            <a:solidFill>
              <a:srgbClr val="002A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89808" y="2768441"/>
            <a:ext cx="3106579" cy="368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2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Flask Web Application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889808" y="3273028"/>
            <a:ext cx="3697010" cy="884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End-to-end platform: upload imagery, analyse automatically, generate reports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93790" y="5070396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92.79%</a:t>
            </a:r>
            <a:endParaRPr lang="en-US" sz="5850" dirty="0"/>
          </a:p>
        </p:txBody>
      </p:sp>
      <p:sp>
        <p:nvSpPr>
          <p:cNvPr id="13" name="Text 11"/>
          <p:cNvSpPr/>
          <p:nvPr/>
        </p:nvSpPr>
        <p:spPr>
          <a:xfrm>
            <a:off x="1455420" y="6102191"/>
            <a:ext cx="2835235" cy="368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2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Model Accuracy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235893" y="5070396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100%</a:t>
            </a:r>
            <a:endParaRPr lang="en-US" sz="5850" dirty="0"/>
          </a:p>
        </p:txBody>
      </p:sp>
      <p:sp>
        <p:nvSpPr>
          <p:cNvPr id="15" name="Text 13"/>
          <p:cNvSpPr/>
          <p:nvPr/>
        </p:nvSpPr>
        <p:spPr>
          <a:xfrm>
            <a:off x="5897523" y="6102191"/>
            <a:ext cx="2835235" cy="368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2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Free Imagery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235893" y="6606778"/>
            <a:ext cx="4158615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Sentinel-2 data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9677995" y="5070396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5</a:t>
            </a:r>
            <a:endParaRPr lang="en-US" sz="5850" dirty="0"/>
          </a:p>
        </p:txBody>
      </p:sp>
      <p:sp>
        <p:nvSpPr>
          <p:cNvPr id="18" name="Text 16"/>
          <p:cNvSpPr/>
          <p:nvPr/>
        </p:nvSpPr>
        <p:spPr>
          <a:xfrm>
            <a:off x="10339626" y="6102191"/>
            <a:ext cx="2835235" cy="368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2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Years Tracked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9677995" y="6606778"/>
            <a:ext cx="4158615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2021–2025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04424"/>
            <a:ext cx="7334964" cy="737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00"/>
              </a:lnSpc>
              <a:buNone/>
            </a:pPr>
            <a:r>
              <a:rPr lang="en-US" sz="445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Dataset &amp; System Pipeline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408515"/>
            <a:ext cx="3178254" cy="368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20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Dataset Specifications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003828"/>
            <a:ext cx="4205168" cy="1711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11,600 patches (64×64 pixels) from 5 Indian mining sites</a:t>
            </a:r>
            <a:endParaRPr lang="en-US" sz="1750" dirty="0"/>
          </a:p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Tile T45QUE covering key regions</a:t>
            </a:r>
            <a:endParaRPr lang="en-US" sz="1750" dirty="0"/>
          </a:p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Time period: 2021–2025</a:t>
            </a:r>
            <a:endParaRPr lang="en-US" sz="1750" dirty="0"/>
          </a:p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Preprocessed using QGIS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942523"/>
            <a:ext cx="2835235" cy="368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20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Training Distribution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5537835"/>
            <a:ext cx="4205168" cy="589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Training: 2,068 patches | Validation: 443 patches | Test: 444 patches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6331506"/>
            <a:ext cx="4205168" cy="589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b="1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Binary classification:</a:t>
            </a:r>
            <a:r>
              <a:rPr lang="en-US" sz="1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Mining (0) vs Non-Mining (1)</a:t>
            </a:r>
            <a:endParaRPr lang="en-US" sz="175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9981" y="2867263"/>
            <a:ext cx="8284131" cy="357235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117373" y="5757464"/>
            <a:ext cx="1879413" cy="244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Overlay &amp; Reports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6117373" y="4930523"/>
            <a:ext cx="1879413" cy="244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EfficientNet-B0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6117373" y="4111934"/>
            <a:ext cx="1879413" cy="244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Preprocessing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6117373" y="3284993"/>
            <a:ext cx="1879413" cy="244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JP2 Input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35123" y="502563"/>
            <a:ext cx="4052530" cy="506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50"/>
              </a:lnSpc>
              <a:buNone/>
            </a:pPr>
            <a:r>
              <a:rPr lang="en-US" sz="305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System Methodology</a:t>
            </a:r>
            <a:endParaRPr lang="en-US" sz="30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5123" y="1223605"/>
            <a:ext cx="779621" cy="100881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821900" y="1379458"/>
            <a:ext cx="2322195" cy="2533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Stage 1 — Satellite Input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2821900" y="1697117"/>
            <a:ext cx="9873258" cy="379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300"/>
              </a:lnSpc>
              <a:buSzPct val="100000"/>
              <a:buChar char="•"/>
            </a:pPr>
            <a:r>
              <a:rPr lang="en-US" sz="12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Sentinel-2 JP2 tile</a:t>
            </a:r>
            <a:endParaRPr lang="en-US" sz="1200" dirty="0"/>
          </a:p>
          <a:p>
            <a:pPr marL="342900" indent="-342900" algn="l">
              <a:lnSpc>
                <a:spcPts val="1300"/>
              </a:lnSpc>
              <a:buSzPct val="100000"/>
              <a:buChar char="•"/>
            </a:pPr>
            <a:r>
              <a:rPr lang="en-US" sz="12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10m resolution, RGB bands</a:t>
            </a: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35123" y="2232422"/>
            <a:ext cx="779621" cy="121729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821900" y="2388275"/>
            <a:ext cx="2602230" cy="2533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Stage 2 — Patch Extraction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2821900" y="2705933"/>
            <a:ext cx="9873258" cy="5879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300"/>
              </a:lnSpc>
              <a:buSzPct val="100000"/>
              <a:buChar char="•"/>
            </a:pPr>
            <a:r>
              <a:rPr lang="en-US" sz="12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64×64px sliding window</a:t>
            </a:r>
            <a:endParaRPr lang="en-US" sz="1200" dirty="0"/>
          </a:p>
          <a:p>
            <a:pPr marL="342900" indent="-342900" algn="l">
              <a:lnSpc>
                <a:spcPts val="1300"/>
              </a:lnSpc>
              <a:buSzPct val="100000"/>
              <a:buChar char="•"/>
            </a:pPr>
            <a:r>
              <a:rPr lang="en-US" sz="12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Stride = 32px (50% overlap)</a:t>
            </a:r>
            <a:endParaRPr lang="en-US" sz="1200" dirty="0"/>
          </a:p>
          <a:p>
            <a:pPr marL="342900" indent="-342900" algn="l">
              <a:lnSpc>
                <a:spcPts val="1300"/>
              </a:lnSpc>
              <a:buSzPct val="100000"/>
              <a:buChar char="•"/>
            </a:pPr>
            <a:r>
              <a:rPr lang="en-US" sz="12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~29,000 patches per scene</a:t>
            </a:r>
            <a:endParaRPr lang="en-US" sz="12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35123" y="3449717"/>
            <a:ext cx="779621" cy="184273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821900" y="3605570"/>
            <a:ext cx="3849172" cy="2533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Stage 3 — 6 Models Trained &amp; Compared</a:t>
            </a:r>
            <a:endParaRPr lang="en-US" sz="1500" dirty="0"/>
          </a:p>
        </p:txBody>
      </p:sp>
      <p:sp>
        <p:nvSpPr>
          <p:cNvPr id="11" name="Text 6"/>
          <p:cNvSpPr/>
          <p:nvPr/>
        </p:nvSpPr>
        <p:spPr>
          <a:xfrm>
            <a:off x="2821900" y="3923228"/>
            <a:ext cx="9873258" cy="1213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300"/>
              </a:lnSpc>
              <a:buSzPct val="100000"/>
              <a:buChar char="•"/>
            </a:pPr>
            <a:r>
              <a:rPr lang="en-US" sz="12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Custom CNN</a:t>
            </a:r>
            <a:endParaRPr lang="en-US" sz="1200" dirty="0"/>
          </a:p>
          <a:p>
            <a:pPr marL="342900" indent="-342900" algn="l">
              <a:lnSpc>
                <a:spcPts val="1300"/>
              </a:lnSpc>
              <a:buSzPct val="100000"/>
              <a:buChar char="•"/>
            </a:pPr>
            <a:r>
              <a:rPr lang="en-US" sz="12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Enhanced CNN</a:t>
            </a:r>
            <a:endParaRPr lang="en-US" sz="1200" dirty="0"/>
          </a:p>
          <a:p>
            <a:pPr marL="342900" indent="-342900" algn="l">
              <a:lnSpc>
                <a:spcPts val="1300"/>
              </a:lnSpc>
              <a:buSzPct val="100000"/>
              <a:buChar char="•"/>
            </a:pPr>
            <a:r>
              <a:rPr lang="en-US" sz="12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ResNet-18</a:t>
            </a:r>
            <a:endParaRPr lang="en-US" sz="1200" dirty="0"/>
          </a:p>
          <a:p>
            <a:pPr marL="342900" indent="-342900" algn="l">
              <a:lnSpc>
                <a:spcPts val="1300"/>
              </a:lnSpc>
              <a:buSzPct val="100000"/>
              <a:buChar char="•"/>
            </a:pPr>
            <a:r>
              <a:rPr lang="en-US" sz="12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MobileNetV2</a:t>
            </a:r>
            <a:endParaRPr lang="en-US" sz="1200" dirty="0"/>
          </a:p>
          <a:p>
            <a:pPr marL="342900" indent="-342900" algn="l">
              <a:lnSpc>
                <a:spcPts val="1300"/>
              </a:lnSpc>
              <a:buSzPct val="100000"/>
              <a:buChar char="•"/>
            </a:pPr>
            <a:r>
              <a:rPr lang="en-US" sz="12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EfficientNet-B0</a:t>
            </a:r>
            <a:endParaRPr lang="en-US" sz="1200" dirty="0"/>
          </a:p>
          <a:p>
            <a:pPr marL="342900" indent="-342900" algn="l">
              <a:lnSpc>
                <a:spcPts val="1300"/>
              </a:lnSpc>
              <a:buSzPct val="100000"/>
              <a:buChar char="•"/>
            </a:pPr>
            <a:r>
              <a:rPr lang="en-US" sz="12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EfficientNetV2-S</a:t>
            </a:r>
            <a:endParaRPr lang="en-US" sz="12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35123" y="5292447"/>
            <a:ext cx="779621" cy="121729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2821900" y="5448300"/>
            <a:ext cx="3524726" cy="2533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Stage 4 — Benchmarking &amp; Selection</a:t>
            </a:r>
            <a:endParaRPr lang="en-US" sz="1500" dirty="0"/>
          </a:p>
        </p:txBody>
      </p:sp>
      <p:sp>
        <p:nvSpPr>
          <p:cNvPr id="14" name="Text 8"/>
          <p:cNvSpPr/>
          <p:nvPr/>
        </p:nvSpPr>
        <p:spPr>
          <a:xfrm>
            <a:off x="2821900" y="5765959"/>
            <a:ext cx="9873258" cy="5879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300"/>
              </a:lnSpc>
              <a:buSzPct val="100000"/>
              <a:buChar char="•"/>
            </a:pPr>
            <a:r>
              <a:rPr lang="en-US" sz="12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Test set: 444 patches</a:t>
            </a:r>
            <a:endParaRPr lang="en-US" sz="1200" dirty="0"/>
          </a:p>
          <a:p>
            <a:pPr marL="342900" indent="-342900" algn="l">
              <a:lnSpc>
                <a:spcPts val="1300"/>
              </a:lnSpc>
              <a:buSzPct val="100000"/>
              <a:buChar char="•"/>
            </a:pPr>
            <a:r>
              <a:rPr lang="en-US" sz="12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Best model selected on Accuracy + F1</a:t>
            </a:r>
            <a:endParaRPr lang="en-US" sz="1200" dirty="0"/>
          </a:p>
          <a:p>
            <a:pPr marL="342900" indent="-342900" algn="l">
              <a:lnSpc>
                <a:spcPts val="1300"/>
              </a:lnSpc>
              <a:buSzPct val="100000"/>
              <a:buChar char="•"/>
            </a:pPr>
            <a:r>
              <a:rPr lang="en-US" sz="12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Winner: EfficientNet-B0 (92.79%)</a:t>
            </a:r>
            <a:endParaRPr lang="en-US" sz="12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35123" y="6509742"/>
            <a:ext cx="779621" cy="1217295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2821900" y="6665595"/>
            <a:ext cx="1949291" cy="2533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Stage 5 — Output</a:t>
            </a:r>
            <a:endParaRPr lang="en-US" sz="1500" dirty="0"/>
          </a:p>
        </p:txBody>
      </p:sp>
      <p:sp>
        <p:nvSpPr>
          <p:cNvPr id="17" name="Text 10"/>
          <p:cNvSpPr/>
          <p:nvPr/>
        </p:nvSpPr>
        <p:spPr>
          <a:xfrm>
            <a:off x="2821900" y="6983254"/>
            <a:ext cx="9873258" cy="5879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300"/>
              </a:lnSpc>
              <a:buSzPct val="100000"/>
              <a:buChar char="•"/>
            </a:pPr>
            <a:r>
              <a:rPr lang="en-US" sz="12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Red overlay map</a:t>
            </a:r>
            <a:endParaRPr lang="en-US" sz="1200" dirty="0"/>
          </a:p>
          <a:p>
            <a:pPr marL="342900" indent="-342900" algn="l">
              <a:lnSpc>
                <a:spcPts val="1300"/>
              </a:lnSpc>
              <a:buSzPct val="100000"/>
              <a:buChar char="•"/>
            </a:pPr>
            <a:r>
              <a:rPr lang="en-US" sz="12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Probability heatmap</a:t>
            </a:r>
            <a:endParaRPr lang="en-US" sz="1200" dirty="0"/>
          </a:p>
          <a:p>
            <a:pPr marL="342900" indent="-342900" algn="l">
              <a:lnSpc>
                <a:spcPts val="1300"/>
              </a:lnSpc>
              <a:buSzPct val="100000"/>
              <a:buChar char="•"/>
            </a:pPr>
            <a:r>
              <a:rPr lang="en-US" sz="12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GPS coordinates CSV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28305"/>
            <a:ext cx="9115901" cy="737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00"/>
              </a:lnSpc>
              <a:buNone/>
            </a:pPr>
            <a:r>
              <a:rPr lang="en-US" sz="445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6-Model Benchmark Comparison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1919049"/>
            <a:ext cx="13042821" cy="4136469"/>
          </a:xfrm>
          <a:prstGeom prst="roundRect">
            <a:avLst>
              <a:gd name="adj" fmla="val 2303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8462" y="2070378"/>
            <a:ext cx="2799397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b="1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Model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4289108" y="2070378"/>
            <a:ext cx="2795588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b="1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Accuracy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545943" y="2070378"/>
            <a:ext cx="2795588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b="1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AUC-ROC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10802779" y="2070378"/>
            <a:ext cx="2799397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b="1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F1 Score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1028462" y="2660213"/>
            <a:ext cx="2799397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Custom CNN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4289108" y="2660213"/>
            <a:ext cx="2795588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91.67%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545943" y="2660213"/>
            <a:ext cx="2795588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0.9741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10802779" y="2660213"/>
            <a:ext cx="2799397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0.88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1028462" y="3250049"/>
            <a:ext cx="2799397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Enhanced CNN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4289108" y="3250049"/>
            <a:ext cx="2795588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92.57%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7545943" y="3250049"/>
            <a:ext cx="2795588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0.9785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10802779" y="3250049"/>
            <a:ext cx="2799397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0.92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1028462" y="3839885"/>
            <a:ext cx="2799397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ResNet-18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4289108" y="3839885"/>
            <a:ext cx="2795588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91.89%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7545943" y="3839885"/>
            <a:ext cx="2795588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0.9738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10802779" y="3839885"/>
            <a:ext cx="2799397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0.89</a:t>
            </a:r>
            <a:endParaRPr lang="en-US" sz="1750" dirty="0"/>
          </a:p>
        </p:txBody>
      </p:sp>
      <p:sp>
        <p:nvSpPr>
          <p:cNvPr id="20" name="Text 18"/>
          <p:cNvSpPr/>
          <p:nvPr/>
        </p:nvSpPr>
        <p:spPr>
          <a:xfrm>
            <a:off x="1028462" y="4429720"/>
            <a:ext cx="2799397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MobileNetV2</a:t>
            </a:r>
            <a:endParaRPr lang="en-US" sz="1750" dirty="0"/>
          </a:p>
        </p:txBody>
      </p:sp>
      <p:sp>
        <p:nvSpPr>
          <p:cNvPr id="21" name="Text 19"/>
          <p:cNvSpPr/>
          <p:nvPr/>
        </p:nvSpPr>
        <p:spPr>
          <a:xfrm>
            <a:off x="4289108" y="4429720"/>
            <a:ext cx="2795588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92.12%</a:t>
            </a:r>
            <a:endParaRPr lang="en-US" sz="1750" dirty="0"/>
          </a:p>
        </p:txBody>
      </p:sp>
      <p:sp>
        <p:nvSpPr>
          <p:cNvPr id="22" name="Text 20"/>
          <p:cNvSpPr/>
          <p:nvPr/>
        </p:nvSpPr>
        <p:spPr>
          <a:xfrm>
            <a:off x="7545943" y="4429720"/>
            <a:ext cx="2795588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0.9734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10802779" y="4429720"/>
            <a:ext cx="2799397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0.90</a:t>
            </a:r>
            <a:endParaRPr lang="en-US" sz="1750" dirty="0"/>
          </a:p>
        </p:txBody>
      </p:sp>
      <p:sp>
        <p:nvSpPr>
          <p:cNvPr id="24" name="Text 22"/>
          <p:cNvSpPr/>
          <p:nvPr/>
        </p:nvSpPr>
        <p:spPr>
          <a:xfrm>
            <a:off x="1028462" y="5019556"/>
            <a:ext cx="2799397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b="1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EfficientNet-B0</a:t>
            </a:r>
            <a:endParaRPr lang="en-US" sz="1750" dirty="0"/>
          </a:p>
        </p:txBody>
      </p:sp>
      <p:sp>
        <p:nvSpPr>
          <p:cNvPr id="25" name="Text 23"/>
          <p:cNvSpPr/>
          <p:nvPr/>
        </p:nvSpPr>
        <p:spPr>
          <a:xfrm>
            <a:off x="4289108" y="5019556"/>
            <a:ext cx="2795588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b="1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92.79%</a:t>
            </a:r>
            <a:endParaRPr lang="en-US" sz="1750" dirty="0"/>
          </a:p>
        </p:txBody>
      </p:sp>
      <p:sp>
        <p:nvSpPr>
          <p:cNvPr id="26" name="Text 24"/>
          <p:cNvSpPr/>
          <p:nvPr/>
        </p:nvSpPr>
        <p:spPr>
          <a:xfrm>
            <a:off x="7545943" y="5019556"/>
            <a:ext cx="2795588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0.9711</a:t>
            </a:r>
            <a:endParaRPr lang="en-US" sz="1750" dirty="0"/>
          </a:p>
        </p:txBody>
      </p:sp>
      <p:sp>
        <p:nvSpPr>
          <p:cNvPr id="27" name="Text 25"/>
          <p:cNvSpPr/>
          <p:nvPr/>
        </p:nvSpPr>
        <p:spPr>
          <a:xfrm>
            <a:off x="10802779" y="5019556"/>
            <a:ext cx="2799397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b="1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0.94</a:t>
            </a:r>
            <a:endParaRPr lang="en-US" sz="1750" dirty="0"/>
          </a:p>
        </p:txBody>
      </p:sp>
      <p:sp>
        <p:nvSpPr>
          <p:cNvPr id="28" name="Text 26"/>
          <p:cNvSpPr/>
          <p:nvPr/>
        </p:nvSpPr>
        <p:spPr>
          <a:xfrm>
            <a:off x="1028462" y="5609392"/>
            <a:ext cx="2799397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EfficientNetV2-S</a:t>
            </a:r>
            <a:endParaRPr lang="en-US" sz="1750" dirty="0"/>
          </a:p>
        </p:txBody>
      </p:sp>
      <p:sp>
        <p:nvSpPr>
          <p:cNvPr id="29" name="Text 27"/>
          <p:cNvSpPr/>
          <p:nvPr/>
        </p:nvSpPr>
        <p:spPr>
          <a:xfrm>
            <a:off x="4289108" y="5609392"/>
            <a:ext cx="2795588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92.79%</a:t>
            </a:r>
            <a:endParaRPr lang="en-US" sz="1750" dirty="0"/>
          </a:p>
        </p:txBody>
      </p:sp>
      <p:sp>
        <p:nvSpPr>
          <p:cNvPr id="30" name="Text 28"/>
          <p:cNvSpPr/>
          <p:nvPr/>
        </p:nvSpPr>
        <p:spPr>
          <a:xfrm>
            <a:off x="7545943" y="5609392"/>
            <a:ext cx="2795588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0.9756</a:t>
            </a:r>
            <a:endParaRPr lang="en-US" sz="1750" dirty="0"/>
          </a:p>
        </p:txBody>
      </p:sp>
      <p:sp>
        <p:nvSpPr>
          <p:cNvPr id="31" name="Text 29"/>
          <p:cNvSpPr/>
          <p:nvPr/>
        </p:nvSpPr>
        <p:spPr>
          <a:xfrm>
            <a:off x="10802779" y="5609392"/>
            <a:ext cx="2799397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0.94</a:t>
            </a:r>
            <a:endParaRPr lang="en-US" sz="1750" dirty="0"/>
          </a:p>
        </p:txBody>
      </p:sp>
      <p:sp>
        <p:nvSpPr>
          <p:cNvPr id="32" name="Shape 30"/>
          <p:cNvSpPr/>
          <p:nvPr/>
        </p:nvSpPr>
        <p:spPr>
          <a:xfrm>
            <a:off x="793790" y="6310670"/>
            <a:ext cx="13042821" cy="1190506"/>
          </a:xfrm>
          <a:prstGeom prst="roundRect">
            <a:avLst>
              <a:gd name="adj" fmla="val 8002"/>
            </a:avLst>
          </a:prstGeom>
          <a:solidFill>
            <a:srgbClr val="00194D"/>
          </a:solidFill>
          <a:ln/>
        </p:spPr>
      </p:sp>
      <p:pic>
        <p:nvPicPr>
          <p:cNvPr id="3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604" y="6616660"/>
            <a:ext cx="283488" cy="226814"/>
          </a:xfrm>
          <a:prstGeom prst="rect">
            <a:avLst/>
          </a:prstGeom>
        </p:spPr>
      </p:pic>
      <p:sp>
        <p:nvSpPr>
          <p:cNvPr id="34" name="Text 31"/>
          <p:cNvSpPr/>
          <p:nvPr/>
        </p:nvSpPr>
        <p:spPr>
          <a:xfrm>
            <a:off x="1530906" y="6594158"/>
            <a:ext cx="12078891" cy="589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b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Champion Model:</a:t>
            </a:r>
            <a:r>
              <a:rPr lang="en-US" sz="175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EfficientNet-B0 achieves best accuracy and F1 score with only 5.3M parameters — optimal balance of performance and efficiency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77359"/>
            <a:ext cx="10089952" cy="737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00"/>
              </a:lnSpc>
              <a:buNone/>
            </a:pPr>
            <a:r>
              <a:rPr lang="en-US" sz="445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How We Compare to Published Work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1968103"/>
            <a:ext cx="13042821" cy="2956798"/>
          </a:xfrm>
          <a:prstGeom prst="roundRect">
            <a:avLst>
              <a:gd name="adj" fmla="val 3222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9653" y="2119432"/>
            <a:ext cx="3887986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b="1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Study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5371267" y="2119432"/>
            <a:ext cx="3887986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b="1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Method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9712881" y="2119432"/>
            <a:ext cx="3887986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b="1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Accuracy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1029653" y="2709267"/>
            <a:ext cx="3887986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Balaniuk et al. (2020)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5371267" y="2709267"/>
            <a:ext cx="3887986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FCNN + Sentinel-2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9712881" y="2709267"/>
            <a:ext cx="3887986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Not reported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1029653" y="3299103"/>
            <a:ext cx="3887986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Yesilmen et al. (2022)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5371267" y="3299103"/>
            <a:ext cx="3887986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DenseNet/ResNet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9712881" y="3299103"/>
            <a:ext cx="3887986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~90%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1029653" y="3888938"/>
            <a:ext cx="3887986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AFSA-SVM (2022)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5371267" y="3888938"/>
            <a:ext cx="3887986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SVM hybrid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9712881" y="3888938"/>
            <a:ext cx="3887986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90.6%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1029653" y="4478774"/>
            <a:ext cx="3887986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b="1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Ours — MineWatch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5371267" y="4478774"/>
            <a:ext cx="3887986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b="1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EfficientNet-B0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9712881" y="4478774"/>
            <a:ext cx="3887986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b="1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92.79%</a:t>
            </a:r>
            <a:endParaRPr lang="en-US" sz="1750" dirty="0"/>
          </a:p>
        </p:txBody>
      </p:sp>
      <p:sp>
        <p:nvSpPr>
          <p:cNvPr id="19" name="Shape 17"/>
          <p:cNvSpPr/>
          <p:nvPr/>
        </p:nvSpPr>
        <p:spPr>
          <a:xfrm>
            <a:off x="793790" y="5180052"/>
            <a:ext cx="4196358" cy="2272070"/>
          </a:xfrm>
          <a:prstGeom prst="roundRect">
            <a:avLst>
              <a:gd name="adj" fmla="val 4193"/>
            </a:avLst>
          </a:prstGeom>
          <a:solidFill>
            <a:srgbClr val="101620">
              <a:alpha val="95000"/>
            </a:srgbClr>
          </a:solidFill>
          <a:ln w="30480">
            <a:solidFill>
              <a:srgbClr val="002A8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51084" y="5437346"/>
            <a:ext cx="3681770" cy="7369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2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First EfficientNet Benchmark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051084" y="6310432"/>
            <a:ext cx="3681770" cy="884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First published EfficientNet architecture evaluation for Indian mining site detection</a:t>
            </a:r>
            <a:endParaRPr lang="en-US" sz="1750" dirty="0"/>
          </a:p>
        </p:txBody>
      </p:sp>
      <p:sp>
        <p:nvSpPr>
          <p:cNvPr id="22" name="Shape 20"/>
          <p:cNvSpPr/>
          <p:nvPr/>
        </p:nvSpPr>
        <p:spPr>
          <a:xfrm>
            <a:off x="5216962" y="5180052"/>
            <a:ext cx="4196358" cy="2272070"/>
          </a:xfrm>
          <a:prstGeom prst="roundRect">
            <a:avLst>
              <a:gd name="adj" fmla="val 4193"/>
            </a:avLst>
          </a:prstGeom>
          <a:solidFill>
            <a:srgbClr val="101620">
              <a:alpha val="95000"/>
            </a:srgbClr>
          </a:solidFill>
          <a:ln w="30480">
            <a:solidFill>
              <a:srgbClr val="002A8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74256" y="5437346"/>
            <a:ext cx="3054429" cy="368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2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Beats Published Work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474256" y="5941933"/>
            <a:ext cx="3681770" cy="884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Superior to all comparable published methods with 92.79% accuracy</a:t>
            </a:r>
            <a:endParaRPr lang="en-US" sz="1750" dirty="0"/>
          </a:p>
        </p:txBody>
      </p:sp>
      <p:sp>
        <p:nvSpPr>
          <p:cNvPr id="25" name="Shape 23"/>
          <p:cNvSpPr/>
          <p:nvPr/>
        </p:nvSpPr>
        <p:spPr>
          <a:xfrm>
            <a:off x="9640133" y="5180052"/>
            <a:ext cx="4196358" cy="2272070"/>
          </a:xfrm>
          <a:prstGeom prst="roundRect">
            <a:avLst>
              <a:gd name="adj" fmla="val 4193"/>
            </a:avLst>
          </a:prstGeom>
          <a:solidFill>
            <a:srgbClr val="101620">
              <a:alpha val="95000"/>
            </a:srgbClr>
          </a:solidFill>
          <a:ln w="30480">
            <a:solidFill>
              <a:srgbClr val="002A8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897427" y="5437346"/>
            <a:ext cx="2994422" cy="368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2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Free Imagery Pipeline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897427" y="5941933"/>
            <a:ext cx="3681770" cy="589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End-to-end system using 100% freely available Sentinel-2 data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39453"/>
            <a:ext cx="7806214" cy="737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00"/>
              </a:lnSpc>
              <a:buNone/>
            </a:pPr>
            <a:r>
              <a:rPr lang="en-US" sz="445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MineWatch Web Application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657713"/>
            <a:ext cx="113348" cy="1133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33951" y="2530197"/>
            <a:ext cx="3486864" cy="368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2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HTML + CSS + JavaScript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133951" y="3034784"/>
            <a:ext cx="3818453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Front-end framework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5893" y="2657713"/>
            <a:ext cx="113348" cy="11334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576054" y="2530197"/>
            <a:ext cx="2835235" cy="368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2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Flask + Python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5576054" y="3034784"/>
            <a:ext cx="3818453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Back-end API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7995" y="2657713"/>
            <a:ext cx="113348" cy="11334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018157" y="2530197"/>
            <a:ext cx="2835235" cy="368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2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EfficientNet-B0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10018157" y="3034784"/>
            <a:ext cx="3818453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Core classifier</a:t>
            </a:r>
            <a:endParaRPr lang="en-US" sz="17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3790" y="3584734"/>
            <a:ext cx="566976" cy="56697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644253" y="3584734"/>
            <a:ext cx="2835235" cy="368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2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Dashboard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1644253" y="4089321"/>
            <a:ext cx="5529143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Real-time metrics and trend visualizations</a:t>
            </a:r>
            <a:endParaRPr lang="en-US" sz="17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456884" y="3584734"/>
            <a:ext cx="566976" cy="566976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8307348" y="3584734"/>
            <a:ext cx="2835235" cy="368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2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Upload &amp; Analyse</a:t>
            </a:r>
            <a:endParaRPr lang="en-US" sz="2200" dirty="0"/>
          </a:p>
        </p:txBody>
      </p:sp>
      <p:sp>
        <p:nvSpPr>
          <p:cNvPr id="17" name="Text 10"/>
          <p:cNvSpPr/>
          <p:nvPr/>
        </p:nvSpPr>
        <p:spPr>
          <a:xfrm>
            <a:off x="8307348" y="4089321"/>
            <a:ext cx="5529263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JP2 file upload with automatic year detection</a:t>
            </a:r>
            <a:endParaRPr lang="en-US" sz="175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3790" y="4837748"/>
            <a:ext cx="566976" cy="566976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1644253" y="4837748"/>
            <a:ext cx="2835235" cy="368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2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Results Map</a:t>
            </a:r>
            <a:endParaRPr lang="en-US" sz="2200" dirty="0"/>
          </a:p>
        </p:txBody>
      </p:sp>
      <p:sp>
        <p:nvSpPr>
          <p:cNvPr id="20" name="Text 12"/>
          <p:cNvSpPr/>
          <p:nvPr/>
        </p:nvSpPr>
        <p:spPr>
          <a:xfrm>
            <a:off x="1644253" y="5342334"/>
            <a:ext cx="5529143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Red overlay and heatmap visualization</a:t>
            </a:r>
            <a:endParaRPr lang="en-US" sz="1750" dirty="0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456884" y="4837748"/>
            <a:ext cx="566976" cy="566976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8307348" y="4837748"/>
            <a:ext cx="2835235" cy="368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2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Temporal Analysis</a:t>
            </a:r>
            <a:endParaRPr lang="en-US" sz="2200" dirty="0"/>
          </a:p>
        </p:txBody>
      </p:sp>
      <p:sp>
        <p:nvSpPr>
          <p:cNvPr id="23" name="Text 14"/>
          <p:cNvSpPr/>
          <p:nvPr/>
        </p:nvSpPr>
        <p:spPr>
          <a:xfrm>
            <a:off x="8307348" y="5342334"/>
            <a:ext cx="5529263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2021–2025 expansion tracking</a:t>
            </a:r>
            <a:endParaRPr lang="en-US" sz="1750" dirty="0"/>
          </a:p>
        </p:txBody>
      </p:sp>
      <p:pic>
        <p:nvPicPr>
          <p:cNvPr id="24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93790" y="6090761"/>
            <a:ext cx="566976" cy="566976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1644253" y="6090761"/>
            <a:ext cx="2835235" cy="368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2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Site Report</a:t>
            </a:r>
            <a:endParaRPr lang="en-US" sz="2200" dirty="0"/>
          </a:p>
        </p:txBody>
      </p:sp>
      <p:sp>
        <p:nvSpPr>
          <p:cNvPr id="26" name="Text 16"/>
          <p:cNvSpPr/>
          <p:nvPr/>
        </p:nvSpPr>
        <p:spPr>
          <a:xfrm>
            <a:off x="1644253" y="6595348"/>
            <a:ext cx="5529143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Risk assessment with CSV download</a:t>
            </a:r>
            <a:endParaRPr lang="en-US" sz="1750" dirty="0"/>
          </a:p>
        </p:txBody>
      </p:sp>
      <p:pic>
        <p:nvPicPr>
          <p:cNvPr id="27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456884" y="6090761"/>
            <a:ext cx="566976" cy="566976"/>
          </a:xfrm>
          <a:prstGeom prst="rect">
            <a:avLst/>
          </a:prstGeom>
        </p:spPr>
      </p:pic>
      <p:sp>
        <p:nvSpPr>
          <p:cNvPr id="28" name="Text 17"/>
          <p:cNvSpPr/>
          <p:nvPr/>
        </p:nvSpPr>
        <p:spPr>
          <a:xfrm>
            <a:off x="8307348" y="6090761"/>
            <a:ext cx="2835235" cy="368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2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Model Comparison</a:t>
            </a:r>
            <a:endParaRPr lang="en-US" sz="2200" dirty="0"/>
          </a:p>
        </p:txBody>
      </p:sp>
      <p:sp>
        <p:nvSpPr>
          <p:cNvPr id="29" name="Text 18"/>
          <p:cNvSpPr/>
          <p:nvPr/>
        </p:nvSpPr>
        <p:spPr>
          <a:xfrm>
            <a:off x="8307348" y="6595348"/>
            <a:ext cx="5529263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All 6 architecture benchmarks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17069"/>
            <a:ext cx="7194947" cy="737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00"/>
              </a:lnSpc>
              <a:buNone/>
            </a:pPr>
            <a:r>
              <a:rPr lang="en-US" sz="445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Conclusion &amp; Future Work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621161"/>
            <a:ext cx="2835235" cy="368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20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Conclusion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216473"/>
            <a:ext cx="6244709" cy="1042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92.79% accuracy, surpassing published benchmarks</a:t>
            </a:r>
            <a:endParaRPr lang="en-US" sz="1750" dirty="0"/>
          </a:p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5-year temporal tracking across 5 Indian mining sites</a:t>
            </a:r>
            <a:endParaRPr lang="en-US" sz="1750" dirty="0"/>
          </a:p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End-to-end deployable pipeline using free imagery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599521" y="2621161"/>
            <a:ext cx="2835235" cy="368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200" b="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Future Work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599521" y="3216473"/>
            <a:ext cx="6244709" cy="14170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Semi-supervised learning on 8,600 unlabelled patches</a:t>
            </a:r>
            <a:endParaRPr lang="en-US" sz="1750" dirty="0"/>
          </a:p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NIR Band 8 for enhanced spectral discrimination</a:t>
            </a:r>
            <a:endParaRPr lang="en-US" sz="1750" dirty="0"/>
          </a:p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Automated cloud mask filtering integration</a:t>
            </a:r>
            <a:endParaRPr lang="en-US" sz="1750" dirty="0"/>
          </a:p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Government portal deployment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5081349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92.79%</a:t>
            </a:r>
            <a:endParaRPr lang="en-US" sz="5850" dirty="0"/>
          </a:p>
        </p:txBody>
      </p:sp>
      <p:sp>
        <p:nvSpPr>
          <p:cNvPr id="8" name="Text 6"/>
          <p:cNvSpPr/>
          <p:nvPr/>
        </p:nvSpPr>
        <p:spPr>
          <a:xfrm>
            <a:off x="1455420" y="6113145"/>
            <a:ext cx="2835235" cy="368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2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Model Accuracy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235893" y="5081349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5</a:t>
            </a:r>
            <a:endParaRPr lang="en-US" sz="5850" dirty="0"/>
          </a:p>
        </p:txBody>
      </p:sp>
      <p:sp>
        <p:nvSpPr>
          <p:cNvPr id="10" name="Text 8"/>
          <p:cNvSpPr/>
          <p:nvPr/>
        </p:nvSpPr>
        <p:spPr>
          <a:xfrm>
            <a:off x="5897523" y="6113145"/>
            <a:ext cx="2835235" cy="368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2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Years Tracked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235893" y="6617732"/>
            <a:ext cx="4158615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2021–2025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9677995" y="5081349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5</a:t>
            </a:r>
            <a:endParaRPr lang="en-US" sz="5850" dirty="0"/>
          </a:p>
        </p:txBody>
      </p:sp>
      <p:sp>
        <p:nvSpPr>
          <p:cNvPr id="13" name="Text 11"/>
          <p:cNvSpPr/>
          <p:nvPr/>
        </p:nvSpPr>
        <p:spPr>
          <a:xfrm>
            <a:off x="10339626" y="6113145"/>
            <a:ext cx="2835235" cy="368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2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Indian Sites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677995" y="6617732"/>
            <a:ext cx="4158615" cy="29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Monitored locations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596</Words>
  <Application>Microsoft Office PowerPoint</Application>
  <PresentationFormat>Custom</PresentationFormat>
  <Paragraphs>160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Geist Bold</vt:lpstr>
      <vt:lpstr>Geist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Rohit Bansal</dc:creator>
  <cp:lastModifiedBy>Rohit Bansal</cp:lastModifiedBy>
  <cp:revision>3</cp:revision>
  <dcterms:created xsi:type="dcterms:W3CDTF">2026-04-13T09:15:09Z</dcterms:created>
  <dcterms:modified xsi:type="dcterms:W3CDTF">2026-04-20T09:05:43Z</dcterms:modified>
</cp:coreProperties>
</file>